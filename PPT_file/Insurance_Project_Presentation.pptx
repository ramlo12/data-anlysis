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Policy Count by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Policy Count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Health</c:v>
                  </c:pt>
                  <c:pt idx="1">
                    <c:v>Motor</c:v>
                  </c:pt>
                  <c:pt idx="2">
                    <c:v>Life</c:v>
                  </c:pt>
                  <c:pt idx="3">
                    <c:v>Property</c:v>
                  </c:pt>
                  <c:pt idx="4">
                    <c:v>Travel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61</c:v>
                </c:pt>
                <c:pt idx="2">
                  <c:v>56</c:v>
                </c:pt>
                <c:pt idx="3">
                  <c:v>46</c:v>
                </c:pt>
                <c:pt idx="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Claim Status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Claim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bubble3D val="0"/>
            <c:spPr>
              <a:solidFill>
                <a:srgbClr val="1F7A6C"/>
              </a:solidFill>
              <a:effectLst/>
            </c:spPr>
          </c:dPt>
          <c:dPt>
            <c:idx val="2"/>
            <c:bubble3D val="0"/>
            <c:spPr>
              <a:solidFill>
                <a:srgbClr val="BF8F00"/>
              </a:solidFill>
              <a:effectLst/>
            </c:spPr>
          </c:dPt>
          <c:dPt>
            <c:idx val="3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bubble3D val="0"/>
            <c:spPr>
              <a:solidFill>
                <a:srgbClr val="99999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No Claim</c:v>
                </c:pt>
                <c:pt idx="1">
                  <c:v>Approved</c:v>
                </c:pt>
                <c:pt idx="2">
                  <c:v>Pending</c:v>
                </c:pt>
                <c:pt idx="3">
                  <c:v>Rejected</c:v>
                </c:pt>
                <c:pt idx="4">
                  <c:v>Unknown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130</c:v>
                </c:pt>
                <c:pt idx="1">
                  <c:v>62</c:v>
                </c:pt>
                <c:pt idx="2">
                  <c:v>40</c:v>
                </c:pt>
                <c:pt idx="3">
                  <c:v>30</c:v>
                </c:pt>
                <c:pt idx="4">
                  <c:v>16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Premium by Type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Premium ($)</c:v>
                </c:pt>
              </c:strCache>
            </c:strRef>
          </c:tx>
          <c:spPr>
            <a:solidFill>
              <a:srgbClr val="1F7A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Health</c:v>
                  </c:pt>
                  <c:pt idx="1">
                    <c:v>Motor</c:v>
                  </c:pt>
                  <c:pt idx="2">
                    <c:v>Life</c:v>
                  </c:pt>
                  <c:pt idx="3">
                    <c:v>Property</c:v>
                  </c:pt>
                  <c:pt idx="4">
                    <c:v>Travel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32478</c:v>
                </c:pt>
                <c:pt idx="1">
                  <c:v>17846</c:v>
                </c:pt>
                <c:pt idx="2">
                  <c:v>23129</c:v>
                </c:pt>
                <c:pt idx="3">
                  <c:v>20403</c:v>
                </c:pt>
                <c:pt idx="4">
                  <c:v>2126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Claim ($) by Status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Claim ($)</c:v>
                </c:pt>
              </c:strCache>
            </c:strRef>
          </c:tx>
          <c:spPr>
            <a:solidFill>
              <a:srgbClr val="BF8F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 Claim</c:v>
                  </c:pt>
                  <c:pt idx="1">
                    <c:v>Approved</c:v>
                  </c:pt>
                  <c:pt idx="2">
                    <c:v>Pending</c:v>
                  </c:pt>
                  <c:pt idx="3">
                    <c:v>Rejected</c:v>
                  </c:pt>
                  <c:pt idx="4">
                    <c:v>Unknown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128634</c:v>
                </c:pt>
                <c:pt idx="2">
                  <c:v>84574</c:v>
                </c:pt>
                <c:pt idx="3">
                  <c:v>63860</c:v>
                </c:pt>
                <c:pt idx="4">
                  <c:v>22439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486400" cy="54864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65960"/>
            <a:ext cx="502920" cy="73152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EXCEL DATA ANALYTICS PROJECT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Policy &amp; Claims Dataset — Cleaning, Analysis &amp; Dashboard Design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749040"/>
            <a:ext cx="4114800" cy="0"/>
          </a:xfrm>
          <a:prstGeom prst="line">
            <a:avLst/>
          </a:prstGeom>
          <a:noFill/>
          <a:ln w="12700">
            <a:solidFill>
              <a:srgbClr val="3B4A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77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Ramla Abdi Osman
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Deero Institute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074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for Data Analysis      </a:t>
            </a:r>
            <a:pPr indent="0" marL="0">
              <a:buNone/>
            </a:pPr>
            <a:r>
              <a:rPr lang="en-US" sz="1200" b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22_Insurance_Original_Raw.xlsx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&amp; 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 &amp; Data Cleaning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280160" cy="0"/>
          </a:xfrm>
          <a:prstGeom prst="line">
            <a:avLst/>
          </a:prstGeom>
          <a:noFill/>
          <a:ln w="31750">
            <a:solidFill>
              <a:srgbClr val="BF8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3291840" cy="731520"/>
          </a:xfrm>
          <a:prstGeom prst="roundRect">
            <a:avLst>
              <a:gd name="adj" fmla="val 7500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91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→ 278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57400" y="1691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Clean Records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3291840" cy="731520"/>
          </a:xfrm>
          <a:prstGeom prst="roundRect">
            <a:avLst>
              <a:gd name="adj" fmla="val 7500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→ 17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57400" y="25603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→ Total Columns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3291840" cy="731520"/>
          </a:xfrm>
          <a:prstGeom prst="roundRect">
            <a:avLst>
              <a:gd name="adj" fmla="val 7500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290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57400" y="34290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Types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Motor, Life, Property, Travel — with Policy_Date, Customer_Age, Premium, Claim_Amount, Claim_Status.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0" y="16002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cleaned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60520" y="2066544"/>
            <a:ext cx="82296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20116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records removed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389120" y="2322576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Policy_ID, duplicate rows, one invalid negative-premium duplicate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60520" y="2852928"/>
            <a:ext cx="82296" cy="621792"/>
          </a:xfrm>
          <a:prstGeom prst="rect">
            <a:avLst/>
          </a:prstGeom>
          <a:solidFill>
            <a:srgbClr val="1F7A6C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0" y="279806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standardized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389120" y="31089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Policy_Type &amp; Claim_Status case-normalized (e.g. "motor" → "Motor")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60520" y="3639312"/>
            <a:ext cx="82296" cy="621792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3584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imputed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389120" y="389534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Premium &amp; Claim_Amount filled using Policy_Type averages; dates filled with median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60520" y="4425696"/>
            <a:ext cx="82296" cy="62179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0" y="437083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logged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389120" y="468172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before/after rationale recorded in the Cleaning_Log sheet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 &amp; 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Formulas — Basic, Conditional, Logical, Date &amp; Text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280160" cy="0"/>
          </a:xfrm>
          <a:prstGeom prst="line">
            <a:avLst/>
          </a:prstGeom>
          <a:noFill/>
          <a:ln w="31750">
            <a:solidFill>
              <a:srgbClr val="BF8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3502152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00200"/>
            <a:ext cx="3502152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00200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&amp; Conditional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30449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/ AVERAGE / COUNT / MIN / MAX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COUNTIF, SUMIF, AVERAGEIF by Policy Type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SUMIFS — Approved claims by type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9392" y="1600200"/>
            <a:ext cx="3502152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4279392" y="1600200"/>
            <a:ext cx="3502152" cy="502920"/>
          </a:xfrm>
          <a:prstGeom prst="rect">
            <a:avLst/>
          </a:prstGeom>
          <a:solidFill>
            <a:srgbClr val="1F7A6C"/>
          </a:solidFill>
          <a:ln/>
        </p:spPr>
      </p:sp>
      <p:sp>
        <p:nvSpPr>
          <p:cNvPr id="12" name="Text 10"/>
          <p:cNvSpPr/>
          <p:nvPr/>
        </p:nvSpPr>
        <p:spPr>
          <a:xfrm>
            <a:off x="4416552" y="1600200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&amp; Date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07992" y="2240280"/>
            <a:ext cx="30449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 → Age_Group (Young/Adult/Mid-Age/Senior)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+ AND + OR → Priority_Flag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NETWORKDAYS, TODAY → Days_Open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10144" y="1600200"/>
            <a:ext cx="3502152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010144" y="1600200"/>
            <a:ext cx="3502152" cy="502920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16" name="Text 14"/>
          <p:cNvSpPr/>
          <p:nvPr/>
        </p:nvSpPr>
        <p:spPr>
          <a:xfrm>
            <a:off x="8147304" y="1600200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Sorting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38744" y="2240280"/>
            <a:ext cx="30449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LEFT, UPPER, TRIM applied across all records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AutoFilter table: sort A–Z, Z–A, oldest–newest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claims via LARGE + INDEX/MATCH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109960" cy="1920240"/>
          </a:xfrm>
          <a:prstGeom prst="roundRect">
            <a:avLst>
              <a:gd name="adj" fmla="val 3810"/>
            </a:avLst>
          </a:prstGeom>
          <a:solidFill>
            <a:srgbClr val="1F3864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51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 Applied</a:t>
            </a:r>
            <a:endParaRPr lang="en-US" sz="1300" dirty="0"/>
          </a:p>
        </p:txBody>
      </p:sp>
      <p:pic>
        <p:nvPicPr>
          <p:cNvPr id="20" name="Image 0" descr="/home/claude/preview/clean_data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572000"/>
            <a:ext cx="10561320" cy="13716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G &amp; 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PivotTables &amp; Data Visualization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280160" cy="0"/>
          </a:xfrm>
          <a:prstGeom prst="line">
            <a:avLst/>
          </a:prstGeom>
          <a:noFill/>
          <a:ln w="31750">
            <a:solidFill>
              <a:srgbClr val="BF8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Pivot Summary Tables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Type Summary — Count, Premium, Claims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Status Summary — Count, % of Total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Type × Claim Status Cross-Tab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— 19 months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Summary — Count, Averages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SUMIFS / COUNTIFS / AVERAGEIFS — fully live, no hard-coded numbers.</a:t>
            </a:r>
            <a:endParaRPr lang="en-US" sz="10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212080" y="1554480"/>
          <a:ext cx="30632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8458200" y="1554480"/>
          <a:ext cx="3200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Chart 2" descr=""/>
          <p:cNvGraphicFramePr/>
          <p:nvPr/>
        </p:nvGraphicFramePr>
        <p:xfrm>
          <a:off x="5212080" y="4023360"/>
          <a:ext cx="30632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2" name="Chart 3" descr=""/>
          <p:cNvGraphicFramePr/>
          <p:nvPr/>
        </p:nvGraphicFramePr>
        <p:xfrm>
          <a:off x="8458200" y="4023360"/>
          <a:ext cx="32004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 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&amp; J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Cards &amp; Interactive Dashboards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280160" cy="0"/>
          </a:xfrm>
          <a:prstGeom prst="line">
            <a:avLst/>
          </a:prstGeom>
          <a:noFill/>
          <a:ln w="31750">
            <a:solidFill>
              <a:srgbClr val="BF8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00200"/>
            <a:ext cx="2606040" cy="3657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PREMIUM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$95,982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338328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1600200"/>
            <a:ext cx="2606040" cy="365760"/>
          </a:xfrm>
          <a:prstGeom prst="rect">
            <a:avLst/>
          </a:prstGeom>
          <a:solidFill>
            <a:srgbClr val="1F7A6C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CLAIM AMOUNT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$299,507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600200"/>
            <a:ext cx="2606040" cy="365760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0" y="19659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278</a:t>
            </a:r>
            <a:endParaRPr lang="en-US" sz="2500" dirty="0"/>
          </a:p>
        </p:txBody>
      </p:sp>
      <p:sp>
        <p:nvSpPr>
          <p:cNvPr id="18" name="Shape 16"/>
          <p:cNvSpPr/>
          <p:nvPr/>
        </p:nvSpPr>
        <p:spPr>
          <a:xfrm>
            <a:off x="905256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9052560" y="1600200"/>
            <a:ext cx="2606040" cy="36576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20" name="Text 18"/>
          <p:cNvSpPr/>
          <p:nvPr/>
        </p:nvSpPr>
        <p:spPr>
          <a:xfrm>
            <a:off x="909828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52560" y="19659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22.3%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548640" y="3108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dashboards, each with 3 dropdown filters (Policy Type, Claim Status, Age Group) wired to live SUMIFS / COUNTIFS formulas — changing a dropdown instantly updates every KPI and chart.</a:t>
            </a:r>
            <a:endParaRPr lang="en-US" sz="1200" dirty="0"/>
          </a:p>
        </p:txBody>
      </p:sp>
      <p:pic>
        <p:nvPicPr>
          <p:cNvPr id="23" name="Image 0" descr="/home/claude/preview/dash1_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749040"/>
            <a:ext cx="5440680" cy="2651760"/>
          </a:xfrm>
          <a:prstGeom prst="rect">
            <a:avLst/>
          </a:prstGeom>
        </p:spPr>
      </p:pic>
      <p:pic>
        <p:nvPicPr>
          <p:cNvPr id="24" name="Image 1" descr="/home/claude/preview/dash2_cro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3749040"/>
            <a:ext cx="5440680" cy="26517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&amp; 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280160" cy="0"/>
          </a:xfrm>
          <a:prstGeom prst="line">
            <a:avLst/>
          </a:prstGeom>
          <a:noFill/>
          <a:ln w="31750">
            <a:solidFill>
              <a:srgbClr val="BF8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6035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= highest value: highest avg premium ($443.55) &amp; claim ($1,502.69)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41.9% of filed claims are approved (62 of 148)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 ~134% — approved payouts exceed premium collected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severity rises with age: Seniors avg $1,295.59 vs $817.68 (Young)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is the smallest, lowest-risk line (20 policies)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Oct-2025 was an outlier month: 29 new policies, $9,733 premium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903720" y="1554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03720" y="1965960"/>
            <a:ext cx="475488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7086600" y="2221992"/>
            <a:ext cx="502920" cy="50292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26680" y="196596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Reprice Property &amp; Life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3200400"/>
            <a:ext cx="475488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3456432"/>
            <a:ext cx="502920" cy="502920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26680" y="320040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claims backlog (Pending/Unknown)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4434840"/>
            <a:ext cx="475488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/>
        </p:spPr>
      </p:sp>
      <p:sp>
        <p:nvSpPr>
          <p:cNvPr id="18" name="Shape 16"/>
          <p:cNvSpPr/>
          <p:nvPr/>
        </p:nvSpPr>
        <p:spPr>
          <a:xfrm>
            <a:off x="7086600" y="4690872"/>
            <a:ext cx="502920" cy="502920"/>
          </a:xfrm>
          <a:prstGeom prst="ellipse">
            <a:avLst/>
          </a:prstGeom>
          <a:solidFill>
            <a:srgbClr val="7030A0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26680" y="44348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Age-adjusted pricing &amp; cleaner data intake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657600"/>
            <a:ext cx="4572000" cy="457200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651760"/>
            <a:ext cx="502920" cy="73152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Ramla Abdi Osman   |   Deero Institute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2026-08-31T08:57:46Z</dcterms:created>
  <dcterms:modified xsi:type="dcterms:W3CDTF">2026-08-31T08:57:46Z</dcterms:modified>
</cp:coreProperties>
</file>